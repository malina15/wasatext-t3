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half"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malina15/WASAText-T3"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itle 1"/>
          <p:cNvSpPr txBox="1"/>
          <p:nvPr>
            <p:ph type="ctrTitle"/>
          </p:nvPr>
        </p:nvSpPr>
        <p:spPr>
          <a:prstGeom prst="rect">
            <a:avLst/>
          </a:prstGeom>
        </p:spPr>
        <p:txBody>
          <a:bodyPr/>
          <a:lstStyle/>
          <a:p>
            <a:pPr>
              <a:defRPr b="1" sz="1800">
                <a:latin typeface="Times New Roman"/>
                <a:ea typeface="Times New Roman"/>
                <a:cs typeface="Times New Roman"/>
                <a:sym typeface="Times New Roman"/>
              </a:defRPr>
            </a:pPr>
            <a:r>
              <a:t>MongoDB Schema Design Strategies and Scaling</a:t>
            </a:r>
          </a:p>
          <a:p>
            <a:pPr>
              <a:defRPr b="1" sz="1800">
                <a:latin typeface="Times New Roman"/>
                <a:ea typeface="Times New Roman"/>
                <a:cs typeface="Times New Roman"/>
                <a:sym typeface="Times New Roman"/>
              </a:defRPr>
            </a:pPr>
            <a:r>
              <a:t>WASAText Case Study</a:t>
            </a:r>
          </a:p>
        </p:txBody>
      </p:sp>
      <p:sp>
        <p:nvSpPr>
          <p:cNvPr id="95" name="Subtitle 2"/>
          <p:cNvSpPr txBox="1"/>
          <p:nvPr>
            <p:ph type="subTitle" sz="quarter" idx="1"/>
          </p:nvPr>
        </p:nvSpPr>
        <p:spPr>
          <a:prstGeom prst="rect">
            <a:avLst/>
          </a:prstGeom>
        </p:spPr>
        <p:txBody>
          <a:bodyPr/>
          <a:lstStyle/>
          <a:p>
            <a:pPr algn="l">
              <a:spcBef>
                <a:spcPts val="200"/>
              </a:spcBef>
              <a:defRPr sz="1200">
                <a:latin typeface="Times New Roman"/>
                <a:ea typeface="Times New Roman"/>
                <a:cs typeface="Times New Roman"/>
                <a:sym typeface="Times New Roman"/>
              </a:defRPr>
            </a:pPr>
            <a:r>
              <a:t>Database Systems Project</a:t>
            </a:r>
          </a:p>
          <a:p>
            <a:pPr algn="l">
              <a:spcBef>
                <a:spcPts val="200"/>
              </a:spcBef>
              <a:defRPr sz="1200">
                <a:latin typeface="Times New Roman"/>
                <a:ea typeface="Times New Roman"/>
                <a:cs typeface="Times New Roman"/>
                <a:sym typeface="Times New Roman"/>
              </a:defRPr>
            </a:pPr>
            <a:r>
              <a:t>Case study based on the WASAText messaging application</a:t>
            </a:r>
          </a:p>
          <a:p>
            <a:pPr algn="l">
              <a:spcBef>
                <a:spcPts val="200"/>
              </a:spcBef>
              <a:defRPr sz="1200">
                <a:latin typeface="Times New Roman"/>
                <a:ea typeface="Times New Roman"/>
                <a:cs typeface="Times New Roman"/>
                <a:sym typeface="Times New Roman"/>
              </a:defRPr>
            </a:pPr>
            <a:r>
              <a:t>Repository: </a:t>
            </a:r>
            <a:r>
              <a:rPr u="sng">
                <a:solidFill>
                  <a:srgbClr val="0000FF"/>
                </a:solidFill>
                <a:uFill>
                  <a:solidFill>
                    <a:srgbClr val="0000FF"/>
                  </a:solidFill>
                </a:uFill>
                <a:hlinkClick r:id="rId2" invalidUrl="" action="" tgtFrame="" tooltip="" history="1" highlightClick="0" endSnd="0"/>
              </a:rPr>
              <a:t>https://github.com/malina15/WASAText-T3</a:t>
            </a:r>
          </a:p>
          <a:p>
            <a:pPr algn="l">
              <a:spcBef>
                <a:spcPts val="200"/>
              </a:spcBef>
              <a:defRPr sz="1200">
                <a:latin typeface="Times New Roman"/>
                <a:ea typeface="Times New Roman"/>
                <a:cs typeface="Times New Roman"/>
                <a:sym typeface="Times New Roman"/>
              </a:defRPr>
            </a:pPr>
          </a:p>
          <a:p>
            <a:pPr algn="l">
              <a:spcBef>
                <a:spcPts val="200"/>
              </a:spcBef>
              <a:defRPr sz="1200">
                <a:latin typeface="Times New Roman"/>
                <a:ea typeface="Times New Roman"/>
                <a:cs typeface="Times New Roman"/>
                <a:sym typeface="Times New Roman"/>
              </a:defRPr>
            </a:pPr>
          </a:p>
          <a:p>
            <a:pPr algn="l">
              <a:spcBef>
                <a:spcPts val="200"/>
              </a:spcBef>
              <a:defRPr sz="1200">
                <a:latin typeface="Times New Roman"/>
                <a:ea typeface="Times New Roman"/>
                <a:cs typeface="Times New Roman"/>
                <a:sym typeface="Times New Roman"/>
              </a:defRPr>
            </a:pPr>
          </a:p>
          <a:p>
            <a:pPr algn="l">
              <a:spcBef>
                <a:spcPts val="200"/>
              </a:spcBef>
              <a:defRPr sz="1200">
                <a:latin typeface="Times New Roman"/>
                <a:ea typeface="Times New Roman"/>
                <a:cs typeface="Times New Roman"/>
                <a:sym typeface="Times New Roman"/>
              </a:defRPr>
            </a:pPr>
            <a:r>
              <a:t>By Malina Ispravnic, Group 311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Title 1"/>
          <p:cNvSpPr txBox="1"/>
          <p:nvPr>
            <p:ph type="title"/>
          </p:nvPr>
        </p:nvSpPr>
        <p:spPr>
          <a:prstGeom prst="rect">
            <a:avLst/>
          </a:prstGeom>
        </p:spPr>
        <p:txBody>
          <a:bodyPr/>
          <a:lstStyle>
            <a:lvl1pPr>
              <a:defRPr b="1" sz="1800">
                <a:latin typeface="Times New Roman"/>
                <a:ea typeface="Times New Roman"/>
                <a:cs typeface="Times New Roman"/>
                <a:sym typeface="Times New Roman"/>
              </a:defRPr>
            </a:lvl1pPr>
          </a:lstStyle>
          <a:p>
            <a:pPr/>
            <a:r>
              <a:t>Motivation</a:t>
            </a:r>
          </a:p>
        </p:txBody>
      </p:sp>
      <p:sp>
        <p:nvSpPr>
          <p:cNvPr id="98" name="Content Placeholder 2"/>
          <p:cNvSpPr txBox="1"/>
          <p:nvPr>
            <p:ph type="body" sz="quarter" idx="1"/>
          </p:nvPr>
        </p:nvSpPr>
        <p:spPr>
          <a:xfrm>
            <a:off x="457200" y="1600200"/>
            <a:ext cx="8229600" cy="880796"/>
          </a:xfrm>
          <a:prstGeom prst="rect">
            <a:avLst/>
          </a:prstGeom>
        </p:spPr>
        <p:txBody>
          <a:bodyPr/>
          <a:lstStyle>
            <a:lvl1pPr>
              <a:spcBef>
                <a:spcPts val="200"/>
              </a:spcBef>
              <a:defRPr sz="1200">
                <a:latin typeface="Times New Roman"/>
                <a:ea typeface="Times New Roman"/>
                <a:cs typeface="Times New Roman"/>
                <a:sym typeface="Times New Roman"/>
              </a:defRPr>
            </a:lvl1pPr>
          </a:lstStyle>
          <a:p>
            <a:pPr/>
            <a:r>
              <a:t>Modern messaging applications generate large volumes of semi-structured data and require high scalability and low-latency access. Traditional relational databases often struggle with these requirements. MongoDB, as a document-oriented NoSQL database, provides flexible schema design and horizontal scalability, making it suitable for analyzing messaging workloads.</a:t>
            </a:r>
          </a:p>
        </p:txBody>
      </p:sp>
      <p:sp>
        <p:nvSpPr>
          <p:cNvPr id="99" name="Title 1"/>
          <p:cNvSpPr txBox="1"/>
          <p:nvPr/>
        </p:nvSpPr>
        <p:spPr>
          <a:xfrm>
            <a:off x="457200" y="2580065"/>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gn="ctr">
              <a:defRPr b="1">
                <a:latin typeface="Times New Roman"/>
                <a:ea typeface="Times New Roman"/>
                <a:cs typeface="Times New Roman"/>
                <a:sym typeface="Times New Roman"/>
              </a:defRPr>
            </a:lvl1pPr>
          </a:lstStyle>
          <a:p>
            <a:pPr/>
            <a:r>
              <a:t>System Overview</a:t>
            </a:r>
          </a:p>
        </p:txBody>
      </p:sp>
      <p:sp>
        <p:nvSpPr>
          <p:cNvPr id="100" name="Content Placeholder 2"/>
          <p:cNvSpPr txBox="1"/>
          <p:nvPr/>
        </p:nvSpPr>
        <p:spPr>
          <a:xfrm>
            <a:off x="457200" y="3681129"/>
            <a:ext cx="8229600" cy="930816"/>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marL="342900" indent="-342900">
              <a:spcBef>
                <a:spcPts val="200"/>
              </a:spcBef>
              <a:buSzPct val="100000"/>
              <a:buFont typeface="Arial"/>
              <a:buChar char="•"/>
              <a:defRPr sz="1200">
                <a:latin typeface="Times New Roman"/>
                <a:ea typeface="Times New Roman"/>
                <a:cs typeface="Times New Roman"/>
                <a:sym typeface="Times New Roman"/>
              </a:defRPr>
            </a:lvl1pPr>
          </a:lstStyle>
          <a:p>
            <a:pPr/>
            <a:r>
              <a:t>WASAText is a web-based messaging application developed as an academic project. The frontend is implemented using Vue and served through Nginx, while the backend is implemented in Go using the Gin framework. MongoDB is not used in production, but introduced exclusively for schema design evaluation and performance analysis.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Title 1"/>
          <p:cNvSpPr txBox="1"/>
          <p:nvPr>
            <p:ph type="title"/>
          </p:nvPr>
        </p:nvSpPr>
        <p:spPr>
          <a:prstGeom prst="rect">
            <a:avLst/>
          </a:prstGeom>
        </p:spPr>
        <p:txBody>
          <a:bodyPr/>
          <a:lstStyle>
            <a:lvl1pPr>
              <a:defRPr b="1" sz="1800">
                <a:latin typeface="Times New Roman"/>
                <a:ea typeface="Times New Roman"/>
                <a:cs typeface="Times New Roman"/>
                <a:sym typeface="Times New Roman"/>
              </a:defRPr>
            </a:lvl1pPr>
          </a:lstStyle>
          <a:p>
            <a:pPr/>
            <a:r>
              <a:t>System Architecture</a:t>
            </a:r>
          </a:p>
        </p:txBody>
      </p:sp>
      <p:sp>
        <p:nvSpPr>
          <p:cNvPr id="103" name="Content Placeholder 2"/>
          <p:cNvSpPr txBox="1"/>
          <p:nvPr>
            <p:ph type="body" idx="1"/>
          </p:nvPr>
        </p:nvSpPr>
        <p:spPr>
          <a:xfrm>
            <a:off x="457200" y="1600200"/>
            <a:ext cx="8229600" cy="4525963"/>
          </a:xfrm>
          <a:prstGeom prst="rect">
            <a:avLst/>
          </a:prstGeom>
        </p:spPr>
        <p:txBody>
          <a:bodyPr/>
          <a:lstStyle>
            <a:lvl1pPr>
              <a:spcBef>
                <a:spcPts val="200"/>
              </a:spcBef>
              <a:defRPr sz="1200">
                <a:latin typeface="Times New Roman"/>
                <a:ea typeface="Times New Roman"/>
                <a:cs typeface="Times New Roman"/>
                <a:sym typeface="Times New Roman"/>
              </a:defRPr>
            </a:lvl1pPr>
          </a:lstStyle>
          <a:p>
            <a:pPr/>
            <a:r>
              <a:t>The diagram illustrates the runtime architecture of the WASAText system. User interactions are handled in the browser, requests are forwarded to the Vue-based frontend, processed by the Go backend, and persisted or analyzed within MongoDB for the T3 study.</a:t>
            </a:r>
          </a:p>
        </p:txBody>
      </p:sp>
      <p:pic>
        <p:nvPicPr>
          <p:cNvPr id="104" name="Picture 3" descr="Picture 3"/>
          <p:cNvPicPr>
            <a:picLocks noChangeAspect="1"/>
          </p:cNvPicPr>
          <p:nvPr/>
        </p:nvPicPr>
        <p:blipFill>
          <a:blip r:embed="rId2">
            <a:extLst/>
          </a:blip>
          <a:stretch>
            <a:fillRect/>
          </a:stretch>
        </p:blipFill>
        <p:spPr>
          <a:xfrm>
            <a:off x="3975089" y="2237086"/>
            <a:ext cx="1193822" cy="4304485"/>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Title 1"/>
          <p:cNvSpPr txBox="1"/>
          <p:nvPr>
            <p:ph type="title"/>
          </p:nvPr>
        </p:nvSpPr>
        <p:spPr>
          <a:prstGeom prst="rect">
            <a:avLst/>
          </a:prstGeom>
        </p:spPr>
        <p:txBody>
          <a:bodyPr/>
          <a:lstStyle>
            <a:lvl1pPr>
              <a:defRPr b="1" sz="1800">
                <a:latin typeface="Times New Roman"/>
                <a:ea typeface="Times New Roman"/>
                <a:cs typeface="Times New Roman"/>
                <a:sym typeface="Times New Roman"/>
              </a:defRPr>
            </a:lvl1pPr>
          </a:lstStyle>
          <a:p>
            <a:pPr/>
            <a:r>
              <a:t>Data Model Design</a:t>
            </a:r>
          </a:p>
        </p:txBody>
      </p:sp>
      <p:sp>
        <p:nvSpPr>
          <p:cNvPr id="107" name="Content Placeholder 2"/>
          <p:cNvSpPr txBox="1"/>
          <p:nvPr>
            <p:ph type="body" sz="quarter" idx="1"/>
          </p:nvPr>
        </p:nvSpPr>
        <p:spPr>
          <a:xfrm>
            <a:off x="457200" y="1600200"/>
            <a:ext cx="8229600" cy="722136"/>
          </a:xfrm>
          <a:prstGeom prst="rect">
            <a:avLst/>
          </a:prstGeom>
        </p:spPr>
        <p:txBody>
          <a:bodyPr/>
          <a:lstStyle>
            <a:lvl1pPr>
              <a:spcBef>
                <a:spcPts val="200"/>
              </a:spcBef>
              <a:defRPr sz="1200">
                <a:latin typeface="Times New Roman"/>
                <a:ea typeface="Times New Roman"/>
                <a:cs typeface="Times New Roman"/>
                <a:sym typeface="Times New Roman"/>
              </a:defRPr>
            </a:lvl1pPr>
          </a:lstStyle>
          <a:p>
            <a:pPr/>
            <a:r>
              <a:t>Two alternative MongoDB schema design strategies are analyzed: embedded and referenced document models. The choice between these approaches affects query performance, document growth, and system scalability, especially in messaging applications with long-lived conversations.</a:t>
            </a:r>
          </a:p>
        </p:txBody>
      </p:sp>
      <p:pic>
        <p:nvPicPr>
          <p:cNvPr id="108" name="Picture 3" descr="Picture 3"/>
          <p:cNvPicPr>
            <a:picLocks noChangeAspect="1"/>
          </p:cNvPicPr>
          <p:nvPr/>
        </p:nvPicPr>
        <p:blipFill>
          <a:blip r:embed="rId2">
            <a:extLst/>
          </a:blip>
          <a:stretch>
            <a:fillRect/>
          </a:stretch>
        </p:blipFill>
        <p:spPr>
          <a:xfrm>
            <a:off x="2286000" y="3541278"/>
            <a:ext cx="4572000" cy="2070223"/>
          </a:xfrm>
          <a:prstGeom prst="rect">
            <a:avLst/>
          </a:prstGeom>
          <a:ln w="12700">
            <a:miter lim="400000"/>
          </a:ln>
        </p:spPr>
      </p:pic>
      <p:sp>
        <p:nvSpPr>
          <p:cNvPr id="109" name="Content Placeholder 2"/>
          <p:cNvSpPr txBox="1"/>
          <p:nvPr/>
        </p:nvSpPr>
        <p:spPr>
          <a:xfrm>
            <a:off x="457200" y="2603405"/>
            <a:ext cx="8229600" cy="656804"/>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marL="342900" indent="-342900">
              <a:spcBef>
                <a:spcPts val="200"/>
              </a:spcBef>
              <a:buSzPct val="100000"/>
              <a:buFont typeface="Arial"/>
              <a:buChar char="•"/>
              <a:defRPr sz="1200">
                <a:latin typeface="Times New Roman"/>
                <a:ea typeface="Times New Roman"/>
                <a:cs typeface="Times New Roman"/>
                <a:sym typeface="Times New Roman"/>
              </a:defRPr>
            </a:lvl1pPr>
          </a:lstStyle>
          <a:p>
            <a:pPr/>
            <a:r>
              <a:t>The embedded model stores messages directly inside conversation documents, favoring read-heavy workloads. The referenced model separates conversations and messages into different collections, improving scalability for large datasets.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Title 1"/>
          <p:cNvSpPr txBox="1"/>
          <p:nvPr>
            <p:ph type="title"/>
          </p:nvPr>
        </p:nvSpPr>
        <p:spPr>
          <a:prstGeom prst="rect">
            <a:avLst/>
          </a:prstGeom>
        </p:spPr>
        <p:txBody>
          <a:bodyPr/>
          <a:lstStyle>
            <a:lvl1pPr>
              <a:defRPr b="1" sz="1800">
                <a:latin typeface="Times New Roman"/>
                <a:ea typeface="Times New Roman"/>
                <a:cs typeface="Times New Roman"/>
                <a:sym typeface="Times New Roman"/>
              </a:defRPr>
            </a:lvl1pPr>
          </a:lstStyle>
          <a:p>
            <a:pPr/>
            <a:r>
              <a:t>CRUD Operations in MongoDB</a:t>
            </a:r>
          </a:p>
        </p:txBody>
      </p:sp>
      <p:sp>
        <p:nvSpPr>
          <p:cNvPr id="112" name="Content Placeholder 2"/>
          <p:cNvSpPr txBox="1"/>
          <p:nvPr>
            <p:ph type="body" sz="half" idx="1"/>
          </p:nvPr>
        </p:nvSpPr>
        <p:spPr>
          <a:xfrm>
            <a:off x="457200" y="1600200"/>
            <a:ext cx="8229600" cy="1567480"/>
          </a:xfrm>
          <a:prstGeom prst="rect">
            <a:avLst/>
          </a:prstGeom>
        </p:spPr>
        <p:txBody>
          <a:bodyPr/>
          <a:lstStyle/>
          <a:p>
            <a:pPr marL="120315" indent="-120315">
              <a:buFontTx/>
              <a:defRPr sz="1200">
                <a:latin typeface="Times New Roman"/>
                <a:ea typeface="Times New Roman"/>
                <a:cs typeface="Times New Roman"/>
                <a:sym typeface="Times New Roman"/>
              </a:defRPr>
            </a:pPr>
            <a:r>
              <a:t>Create: insert conversations and messages</a:t>
            </a:r>
          </a:p>
          <a:p>
            <a:pPr marL="120315" indent="-120315">
              <a:buFontTx/>
              <a:defRPr sz="1200">
                <a:latin typeface="Times New Roman"/>
                <a:ea typeface="Times New Roman"/>
                <a:cs typeface="Times New Roman"/>
                <a:sym typeface="Times New Roman"/>
              </a:defRPr>
            </a:pPr>
            <a:r>
              <a:t>Read: inbox queries and message retrieval</a:t>
            </a:r>
          </a:p>
          <a:p>
            <a:pPr marL="120315" indent="-120315">
              <a:buFontTx/>
              <a:defRPr sz="1200">
                <a:latin typeface="Times New Roman"/>
                <a:ea typeface="Times New Roman"/>
                <a:cs typeface="Times New Roman"/>
                <a:sym typeface="Times New Roman"/>
              </a:defRPr>
            </a:pPr>
            <a:r>
              <a:t>Update: append messages and reactions</a:t>
            </a:r>
          </a:p>
          <a:p>
            <a:pPr marL="120315" indent="-120315">
              <a:buFontTx/>
              <a:defRPr sz="1200">
                <a:latin typeface="Times New Roman"/>
                <a:ea typeface="Times New Roman"/>
                <a:cs typeface="Times New Roman"/>
                <a:sym typeface="Times New Roman"/>
              </a:defRPr>
            </a:pPr>
            <a:r>
              <a:t>Delete: logical delete (soft delete)</a:t>
            </a:r>
          </a:p>
          <a:p>
            <a:pPr marL="120315" indent="-120315">
              <a:buFontTx/>
              <a:defRPr sz="1200">
                <a:latin typeface="Times New Roman"/>
                <a:ea typeface="Times New Roman"/>
                <a:cs typeface="Times New Roman"/>
                <a:sym typeface="Times New Roman"/>
              </a:defRPr>
            </a:pPr>
            <a:r>
              <a:rPr>
                <a:latin typeface="Times Roman"/>
                <a:ea typeface="Times Roman"/>
                <a:cs typeface="Times Roman"/>
                <a:sym typeface="Times Roman"/>
              </a:rPr>
              <a:t>Fully documented in </a:t>
            </a:r>
            <a:r>
              <a:rPr>
                <a:solidFill>
                  <a:schemeClr val="accent1">
                    <a:satOff val="-4409"/>
                    <a:lumOff val="-10509"/>
                  </a:schemeClr>
                </a:solidFill>
              </a:rPr>
              <a:t>mongodb-study/docs/crud.md</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Title 1"/>
          <p:cNvSpPr txBox="1"/>
          <p:nvPr>
            <p:ph type="title"/>
          </p:nvPr>
        </p:nvSpPr>
        <p:spPr>
          <a:prstGeom prst="rect">
            <a:avLst/>
          </a:prstGeom>
        </p:spPr>
        <p:txBody>
          <a:bodyPr/>
          <a:lstStyle>
            <a:lvl1pPr>
              <a:defRPr b="1" sz="1800">
                <a:latin typeface="Times New Roman"/>
                <a:ea typeface="Times New Roman"/>
                <a:cs typeface="Times New Roman"/>
                <a:sym typeface="Times New Roman"/>
              </a:defRPr>
            </a:lvl1pPr>
          </a:lstStyle>
          <a:p>
            <a:pPr/>
            <a:r>
              <a:t>Benchmark Setup</a:t>
            </a:r>
          </a:p>
        </p:txBody>
      </p:sp>
      <p:sp>
        <p:nvSpPr>
          <p:cNvPr id="115" name="Content Placeholder 2"/>
          <p:cNvSpPr txBox="1"/>
          <p:nvPr>
            <p:ph type="body" sz="quarter" idx="1"/>
          </p:nvPr>
        </p:nvSpPr>
        <p:spPr>
          <a:xfrm>
            <a:off x="457200" y="1600200"/>
            <a:ext cx="8229600" cy="762880"/>
          </a:xfrm>
          <a:prstGeom prst="rect">
            <a:avLst/>
          </a:prstGeom>
        </p:spPr>
        <p:txBody>
          <a:bodyPr/>
          <a:lstStyle>
            <a:lvl1pPr>
              <a:spcBef>
                <a:spcPts val="200"/>
              </a:spcBef>
              <a:defRPr sz="1200">
                <a:latin typeface="Times New Roman"/>
                <a:ea typeface="Times New Roman"/>
                <a:cs typeface="Times New Roman"/>
                <a:sym typeface="Times New Roman"/>
              </a:defRPr>
            </a:lvl1pPr>
          </a:lstStyle>
          <a:p>
            <a:pPr/>
            <a:r>
              <a:t>A synthetic dataset was generated to simulate realistic messaging workloads. Queries retrieving the most recent conversations were executed using MongoDB explain() plans. Performance metrics were collected before and after creating indexes on relevant fields.</a:t>
            </a:r>
          </a:p>
        </p:txBody>
      </p:sp>
      <p:sp>
        <p:nvSpPr>
          <p:cNvPr id="116" name="Title 1"/>
          <p:cNvSpPr txBox="1"/>
          <p:nvPr/>
        </p:nvSpPr>
        <p:spPr>
          <a:xfrm>
            <a:off x="457200" y="229080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gn="ctr">
              <a:defRPr b="1">
                <a:latin typeface="Times New Roman"/>
                <a:ea typeface="Times New Roman"/>
                <a:cs typeface="Times New Roman"/>
                <a:sym typeface="Times New Roman"/>
              </a:defRPr>
            </a:lvl1pPr>
          </a:lstStyle>
          <a:p>
            <a:pPr/>
            <a:r>
              <a:t>Benchmark Results</a:t>
            </a:r>
          </a:p>
        </p:txBody>
      </p:sp>
      <p:sp>
        <p:nvSpPr>
          <p:cNvPr id="117" name="Content Placeholder 2"/>
          <p:cNvSpPr txBox="1"/>
          <p:nvPr/>
        </p:nvSpPr>
        <p:spPr>
          <a:xfrm>
            <a:off x="457200" y="3525821"/>
            <a:ext cx="8229600" cy="901505"/>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marL="342900" indent="-342900">
              <a:spcBef>
                <a:spcPts val="200"/>
              </a:spcBef>
              <a:buSzPct val="100000"/>
              <a:buFont typeface="Arial"/>
              <a:buChar char="•"/>
              <a:defRPr sz="1200">
                <a:latin typeface="Times New Roman"/>
                <a:ea typeface="Times New Roman"/>
                <a:cs typeface="Times New Roman"/>
                <a:sym typeface="Times New Roman"/>
              </a:defRPr>
            </a:lvl1pPr>
          </a:lstStyle>
          <a:p>
            <a:pPr/>
            <a:r>
              <a:t>Before indexing, MongoDB performed full collection scans and in-memory sorting. After creating an index on the last_message_at field, query execution required fewer document scans and avoided blocking sorts, significantly improving latency.</a:t>
            </a:r>
          </a:p>
        </p:txBody>
      </p:sp>
      <p:sp>
        <p:nvSpPr>
          <p:cNvPr id="118" name="Title 1"/>
          <p:cNvSpPr txBox="1"/>
          <p:nvPr/>
        </p:nvSpPr>
        <p:spPr>
          <a:xfrm>
            <a:off x="457200" y="4306977"/>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gn="ctr">
              <a:defRPr b="1">
                <a:latin typeface="Times New Roman"/>
                <a:ea typeface="Times New Roman"/>
                <a:cs typeface="Times New Roman"/>
                <a:sym typeface="Times New Roman"/>
              </a:defRPr>
            </a:lvl1pPr>
          </a:lstStyle>
          <a:p>
            <a:pPr/>
            <a:r>
              <a:t>Interpretation</a:t>
            </a:r>
          </a:p>
        </p:txBody>
      </p:sp>
      <p:sp>
        <p:nvSpPr>
          <p:cNvPr id="119" name="Content Placeholder 2"/>
          <p:cNvSpPr txBox="1"/>
          <p:nvPr/>
        </p:nvSpPr>
        <p:spPr>
          <a:xfrm>
            <a:off x="457200" y="5632539"/>
            <a:ext cx="8229600" cy="60641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marL="342900" indent="-342900">
              <a:spcBef>
                <a:spcPts val="200"/>
              </a:spcBef>
              <a:buSzPct val="100000"/>
              <a:buFont typeface="Arial"/>
              <a:buChar char="•"/>
              <a:defRPr sz="1200">
                <a:latin typeface="Times New Roman"/>
                <a:ea typeface="Times New Roman"/>
                <a:cs typeface="Times New Roman"/>
                <a:sym typeface="Times New Roman"/>
              </a:defRPr>
            </a:lvl1pPr>
          </a:lstStyle>
          <a:p>
            <a:pPr/>
            <a:r>
              <a:t>The results show that embedded schemas are efficient for retrieving recent conversation data, while referenced schemas offer better long-term scalability. Indexing plays a crucial role in optimizing query execution for both approaches.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Title 1"/>
          <p:cNvSpPr txBox="1"/>
          <p:nvPr>
            <p:ph type="title"/>
          </p:nvPr>
        </p:nvSpPr>
        <p:spPr>
          <a:prstGeom prst="rect">
            <a:avLst/>
          </a:prstGeom>
        </p:spPr>
        <p:txBody>
          <a:bodyPr/>
          <a:lstStyle>
            <a:lvl1pPr>
              <a:defRPr b="1" sz="1800">
                <a:latin typeface="Times New Roman"/>
                <a:ea typeface="Times New Roman"/>
                <a:cs typeface="Times New Roman"/>
                <a:sym typeface="Times New Roman"/>
              </a:defRPr>
            </a:lvl1pPr>
          </a:lstStyle>
          <a:p>
            <a:pPr/>
            <a:r>
              <a:t>Aggregation Pipelines</a:t>
            </a:r>
          </a:p>
        </p:txBody>
      </p:sp>
      <p:sp>
        <p:nvSpPr>
          <p:cNvPr id="122" name="Content Placeholder 2"/>
          <p:cNvSpPr txBox="1"/>
          <p:nvPr>
            <p:ph type="body" sz="quarter" idx="1"/>
          </p:nvPr>
        </p:nvSpPr>
        <p:spPr>
          <a:xfrm>
            <a:off x="457200" y="1600200"/>
            <a:ext cx="8229600" cy="1305372"/>
          </a:xfrm>
          <a:prstGeom prst="rect">
            <a:avLst/>
          </a:prstGeom>
        </p:spPr>
        <p:txBody>
          <a:bodyPr/>
          <a:lstStyle/>
          <a:p>
            <a:pPr marL="120315" indent="-120315">
              <a:buFontTx/>
              <a:defRPr sz="1200">
                <a:latin typeface="Times New Roman"/>
                <a:ea typeface="Times New Roman"/>
                <a:cs typeface="Times New Roman"/>
                <a:sym typeface="Times New Roman"/>
              </a:defRPr>
            </a:pPr>
            <a:r>
              <a:t>Top users by number of messages sent</a:t>
            </a:r>
          </a:p>
          <a:p>
            <a:pPr marL="120315" indent="-120315">
              <a:buFontTx/>
              <a:defRPr sz="1200">
                <a:latin typeface="Times New Roman"/>
                <a:ea typeface="Times New Roman"/>
                <a:cs typeface="Times New Roman"/>
                <a:sym typeface="Times New Roman"/>
              </a:defRPr>
            </a:pPr>
            <a:r>
              <a:t>Most active conversations</a:t>
            </a:r>
          </a:p>
          <a:p>
            <a:pPr marL="120315" indent="-120315">
              <a:buFontTx/>
              <a:defRPr sz="1200">
                <a:latin typeface="Times New Roman"/>
                <a:ea typeface="Times New Roman"/>
                <a:cs typeface="Times New Roman"/>
                <a:sym typeface="Times New Roman"/>
              </a:defRPr>
            </a:pPr>
            <a:r>
              <a:t>Reaction type distribution</a:t>
            </a:r>
          </a:p>
          <a:p>
            <a:pPr marL="120315" indent="-120315">
              <a:buFontTx/>
              <a:defRPr sz="1200">
                <a:latin typeface="Times New Roman"/>
                <a:ea typeface="Times New Roman"/>
                <a:cs typeface="Times New Roman"/>
                <a:sym typeface="Times New Roman"/>
              </a:defRPr>
            </a:pPr>
            <a:r>
              <a:t>Aggregation pipelines and outputs documented in </a:t>
            </a:r>
            <a:r>
              <a:rPr>
                <a:solidFill>
                  <a:schemeClr val="accent1">
                    <a:satOff val="-4409"/>
                    <a:lumOff val="-10509"/>
                  </a:schemeClr>
                </a:solidFill>
              </a:rPr>
              <a:t>aggregations.md</a:t>
            </a:r>
          </a:p>
        </p:txBody>
      </p:sp>
      <p:sp>
        <p:nvSpPr>
          <p:cNvPr id="123" name="Title 1"/>
          <p:cNvSpPr txBox="1"/>
          <p:nvPr/>
        </p:nvSpPr>
        <p:spPr>
          <a:xfrm>
            <a:off x="457200" y="3088133"/>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gn="ctr">
              <a:defRPr b="1">
                <a:latin typeface="Times New Roman"/>
                <a:ea typeface="Times New Roman"/>
                <a:cs typeface="Times New Roman"/>
                <a:sym typeface="Times New Roman"/>
              </a:defRPr>
            </a:lvl1pPr>
          </a:lstStyle>
          <a:p>
            <a:pPr/>
            <a:r>
              <a:t>Scaling Strategies in MongoDB</a:t>
            </a:r>
          </a:p>
        </p:txBody>
      </p:sp>
      <p:sp>
        <p:nvSpPr>
          <p:cNvPr id="124" name="Content Placeholder 2"/>
          <p:cNvSpPr txBox="1"/>
          <p:nvPr/>
        </p:nvSpPr>
        <p:spPr>
          <a:xfrm>
            <a:off x="457200" y="4413696"/>
            <a:ext cx="8229600" cy="1821707"/>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120315" indent="-120315">
              <a:spcBef>
                <a:spcPts val="700"/>
              </a:spcBef>
              <a:buSzPct val="100000"/>
              <a:buChar char="•"/>
              <a:defRPr sz="1200">
                <a:latin typeface="Times New Roman"/>
                <a:ea typeface="Times New Roman"/>
                <a:cs typeface="Times New Roman"/>
                <a:sym typeface="Times New Roman"/>
              </a:defRPr>
            </a:pPr>
            <a:r>
              <a:t>Indexing: demonstrated via query execution plans</a:t>
            </a:r>
          </a:p>
          <a:p>
            <a:pPr marL="120315" indent="-120315">
              <a:spcBef>
                <a:spcPts val="700"/>
              </a:spcBef>
              <a:buSzPct val="100000"/>
              <a:buChar char="•"/>
              <a:defRPr sz="1200">
                <a:latin typeface="Times New Roman"/>
                <a:ea typeface="Times New Roman"/>
                <a:cs typeface="Times New Roman"/>
                <a:sym typeface="Times New Roman"/>
              </a:defRPr>
            </a:pPr>
            <a:r>
              <a:t>Replication: 3-node replica set with automatic failover</a:t>
            </a:r>
          </a:p>
          <a:p>
            <a:pPr marL="120315" indent="-120315">
              <a:spcBef>
                <a:spcPts val="700"/>
              </a:spcBef>
              <a:buSzPct val="100000"/>
              <a:buChar char="•"/>
              <a:defRPr sz="1200">
                <a:latin typeface="Times New Roman"/>
                <a:ea typeface="Times New Roman"/>
                <a:cs typeface="Times New Roman"/>
                <a:sym typeface="Times New Roman"/>
              </a:defRPr>
            </a:pPr>
            <a:r>
              <a:t>Reaction type distribution</a:t>
            </a:r>
          </a:p>
          <a:p>
            <a:pPr marL="120315" indent="-120315">
              <a:spcBef>
                <a:spcPts val="700"/>
              </a:spcBef>
              <a:buSzPct val="100000"/>
              <a:buChar char="•"/>
              <a:defRPr sz="1200">
                <a:latin typeface="Times New Roman"/>
                <a:ea typeface="Times New Roman"/>
                <a:cs typeface="Times New Roman"/>
                <a:sym typeface="Times New Roman"/>
              </a:defRPr>
            </a:pPr>
            <a:r>
              <a:t>Sharding: design plan and justification (not implemented)</a:t>
            </a:r>
          </a:p>
          <a:p>
            <a:pPr marL="120315" indent="-120315">
              <a:spcBef>
                <a:spcPts val="700"/>
              </a:spcBef>
              <a:buSzPct val="100000"/>
              <a:buChar char="•"/>
              <a:defRPr sz="1200">
                <a:latin typeface="Times New Roman"/>
                <a:ea typeface="Times New Roman"/>
                <a:cs typeface="Times New Roman"/>
                <a:sym typeface="Times New Roman"/>
              </a:defRPr>
            </a:pPr>
            <a:r>
              <a:t>Sharding was not implemented due to complexity and time constraints; a detailed design and justification are provided.</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 name="Title 1"/>
          <p:cNvSpPr txBox="1"/>
          <p:nvPr>
            <p:ph type="title"/>
          </p:nvPr>
        </p:nvSpPr>
        <p:spPr>
          <a:prstGeom prst="rect">
            <a:avLst/>
          </a:prstGeom>
        </p:spPr>
        <p:txBody>
          <a:bodyPr/>
          <a:lstStyle>
            <a:lvl1pPr>
              <a:defRPr b="1" sz="1800">
                <a:latin typeface="Times New Roman"/>
                <a:ea typeface="Times New Roman"/>
                <a:cs typeface="Times New Roman"/>
                <a:sym typeface="Times New Roman"/>
              </a:defRPr>
            </a:lvl1pPr>
          </a:lstStyle>
          <a:p>
            <a:pPr/>
            <a:r>
              <a:t>Conclusion</a:t>
            </a:r>
          </a:p>
        </p:txBody>
      </p:sp>
      <p:sp>
        <p:nvSpPr>
          <p:cNvPr id="127" name="Content Placeholder 2"/>
          <p:cNvSpPr txBox="1"/>
          <p:nvPr>
            <p:ph type="body" idx="1"/>
          </p:nvPr>
        </p:nvSpPr>
        <p:spPr>
          <a:xfrm>
            <a:off x="457200" y="1600200"/>
            <a:ext cx="8229600" cy="4525963"/>
          </a:xfrm>
          <a:prstGeom prst="rect">
            <a:avLst/>
          </a:prstGeom>
        </p:spPr>
        <p:txBody>
          <a:bodyPr/>
          <a:lstStyle>
            <a:lvl1pPr>
              <a:spcBef>
                <a:spcPts val="200"/>
              </a:spcBef>
              <a:defRPr sz="1200">
                <a:latin typeface="Times New Roman"/>
                <a:ea typeface="Times New Roman"/>
                <a:cs typeface="Times New Roman"/>
                <a:sym typeface="Times New Roman"/>
              </a:defRPr>
            </a:lvl1pPr>
          </a:lstStyle>
          <a:p>
            <a:pPr/>
            <a:r>
              <a:t>MongoDB schema design must be aligned with application access patterns. Messaging systems benefit from embedded documents for fast reads, while referenced models and proper indexing are essential for scaling to large datasets.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