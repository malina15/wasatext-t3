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Lst>
  <p:sldSz cx="9144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1pPr>
    <a:lvl2pPr marL="0" marR="0" indent="457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2pPr>
    <a:lvl3pPr marL="0" marR="0" indent="914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n-lt"/>
        <a:ea typeface="+mn-ea"/>
        <a:cs typeface="+mn-cs"/>
        <a:sym typeface="Calibri"/>
      </a:defRPr>
    </a:lvl1pPr>
    <a:lvl2pPr indent="228600" defTabSz="457200" latinLnBrk="0">
      <a:defRPr sz="1200">
        <a:latin typeface="+mn-lt"/>
        <a:ea typeface="+mn-ea"/>
        <a:cs typeface="+mn-cs"/>
        <a:sym typeface="Calibri"/>
      </a:defRPr>
    </a:lvl2pPr>
    <a:lvl3pPr indent="457200" defTabSz="457200" latinLnBrk="0">
      <a:defRPr sz="1200">
        <a:latin typeface="+mn-lt"/>
        <a:ea typeface="+mn-ea"/>
        <a:cs typeface="+mn-cs"/>
        <a:sym typeface="Calibri"/>
      </a:defRPr>
    </a:lvl3pPr>
    <a:lvl4pPr indent="685800" defTabSz="457200" latinLnBrk="0">
      <a:defRPr sz="1200">
        <a:latin typeface="+mn-lt"/>
        <a:ea typeface="+mn-ea"/>
        <a:cs typeface="+mn-cs"/>
        <a:sym typeface="Calibri"/>
      </a:defRPr>
    </a:lvl4pPr>
    <a:lvl5pPr indent="914400" defTabSz="457200" latinLnBrk="0">
      <a:defRPr sz="1200">
        <a:latin typeface="+mn-lt"/>
        <a:ea typeface="+mn-ea"/>
        <a:cs typeface="+mn-cs"/>
        <a:sym typeface="Calibri"/>
      </a:defRPr>
    </a:lvl5pPr>
    <a:lvl6pPr indent="1143000" defTabSz="457200" latinLnBrk="0">
      <a:defRPr sz="1200">
        <a:latin typeface="+mn-lt"/>
        <a:ea typeface="+mn-ea"/>
        <a:cs typeface="+mn-cs"/>
        <a:sym typeface="Calibri"/>
      </a:defRPr>
    </a:lvl6pPr>
    <a:lvl7pPr indent="1371600" defTabSz="457200" latinLnBrk="0">
      <a:defRPr sz="1200">
        <a:latin typeface="+mn-lt"/>
        <a:ea typeface="+mn-ea"/>
        <a:cs typeface="+mn-cs"/>
        <a:sym typeface="Calibri"/>
      </a:defRPr>
    </a:lvl7pPr>
    <a:lvl8pPr indent="1600200" defTabSz="457200" latinLnBrk="0">
      <a:defRPr sz="1200">
        <a:latin typeface="+mn-lt"/>
        <a:ea typeface="+mn-ea"/>
        <a:cs typeface="+mn-cs"/>
        <a:sym typeface="Calibri"/>
      </a:defRPr>
    </a:lvl8pPr>
    <a:lvl9pPr indent="1828800" defTabSz="457200" latinLnBrk="0">
      <a:defRPr sz="1200">
        <a:latin typeface="+mn-lt"/>
        <a:ea typeface="+mn-ea"/>
        <a:cs typeface="+mn-cs"/>
        <a:sym typeface="Calibri"/>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457200" algn="ctr">
              <a:buSzTx/>
              <a:buFontTx/>
              <a:buNone/>
              <a:defRPr>
                <a:solidFill>
                  <a:srgbClr val="888888"/>
                </a:solidFill>
              </a:defRPr>
            </a:lvl2pPr>
            <a:lvl3pPr marL="0" indent="914400" algn="ctr">
              <a:buSzTx/>
              <a:buFontTx/>
              <a:buNone/>
              <a:defRPr>
                <a:solidFill>
                  <a:srgbClr val="888888"/>
                </a:solidFill>
              </a:defRPr>
            </a:lvl3pPr>
            <a:lvl4pPr marL="0" indent="1371600" algn="ctr">
              <a:buSzTx/>
              <a:buFontTx/>
              <a:buNone/>
              <a:defRPr>
                <a:solidFill>
                  <a:srgbClr val="888888"/>
                </a:solidFill>
              </a:defRPr>
            </a:lvl4pPr>
            <a:lvl5pPr marL="0" indent="182880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prstGeom prst="rect">
            <a:avLst/>
          </a:prstGeom>
        </p:spPr>
        <p:txBody>
          <a:bodyPr/>
          <a:lstStyle/>
          <a:p>
            <a:pPr/>
            <a:r>
              <a:t>Title Text</a:t>
            </a:r>
          </a:p>
        </p:txBody>
      </p:sp>
      <p:sp>
        <p:nvSpPr>
          <p:cNvPr id="21" name="Body Level One…"/>
          <p:cNvSpPr txBox="1"/>
          <p:nvPr>
            <p:ph type="body" idx="1"/>
          </p:nvPr>
        </p:nvSpPr>
        <p:spPr>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188"/>
          </a:xfrm>
          <a:prstGeom prst="rect">
            <a:avLst/>
          </a:prstGeom>
        </p:spPr>
        <p:txBody>
          <a:bodyPr anchor="b"/>
          <a:lstStyle>
            <a:lvl1pPr marL="0" indent="0">
              <a:spcBef>
                <a:spcPts val="400"/>
              </a:spcBef>
              <a:buSzTx/>
              <a:buFontTx/>
              <a:buNone/>
              <a:defRPr sz="2000">
                <a:solidFill>
                  <a:srgbClr val="888888"/>
                </a:solidFill>
              </a:defRPr>
            </a:lvl1pPr>
            <a:lvl2pPr marL="0" indent="457200">
              <a:spcBef>
                <a:spcPts val="400"/>
              </a:spcBef>
              <a:buSzTx/>
              <a:buFontTx/>
              <a:buNone/>
              <a:defRPr sz="2000">
                <a:solidFill>
                  <a:srgbClr val="888888"/>
                </a:solidFill>
              </a:defRPr>
            </a:lvl2pPr>
            <a:lvl3pPr marL="0" indent="914400">
              <a:spcBef>
                <a:spcPts val="400"/>
              </a:spcBef>
              <a:buSzTx/>
              <a:buFontTx/>
              <a:buNone/>
              <a:defRPr sz="2000">
                <a:solidFill>
                  <a:srgbClr val="888888"/>
                </a:solidFill>
              </a:defRPr>
            </a:lvl3pPr>
            <a:lvl4pPr marL="0" indent="1371600">
              <a:spcBef>
                <a:spcPts val="400"/>
              </a:spcBef>
              <a:buSzTx/>
              <a:buFontTx/>
              <a:buNone/>
              <a:defRPr sz="2000">
                <a:solidFill>
                  <a:srgbClr val="888888"/>
                </a:solidFill>
              </a:defRPr>
            </a:lvl4pPr>
            <a:lvl5pPr marL="0" indent="182880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9" indent="-320039">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457200">
              <a:spcBef>
                <a:spcPts val="500"/>
              </a:spcBef>
              <a:buSzTx/>
              <a:buFontTx/>
              <a:buNone/>
              <a:defRPr b="1" sz="2400"/>
            </a:lvl2pPr>
            <a:lvl3pPr marL="0" indent="914400">
              <a:spcBef>
                <a:spcPts val="500"/>
              </a:spcBef>
              <a:buSzTx/>
              <a:buFontTx/>
              <a:buNone/>
              <a:defRPr b="1" sz="2400"/>
            </a:lvl3pPr>
            <a:lvl4pPr marL="0" indent="1371600">
              <a:spcBef>
                <a:spcPts val="500"/>
              </a:spcBef>
              <a:buSzTx/>
              <a:buFontTx/>
              <a:buNone/>
              <a:defRPr b="1" sz="2400"/>
            </a:lvl4pPr>
            <a:lvl5pPr marL="0" indent="182880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2"/>
            <a:ext cx="4041775" cy="639763"/>
          </a:xfrm>
          <a:prstGeom prst="rect">
            <a:avLst/>
          </a:prstGeom>
        </p:spPr>
        <p:txBody>
          <a:bodyPr anchor="b"/>
          <a:lstStyle/>
          <a:p>
            <a:pPr marL="0" indent="0">
              <a:spcBef>
                <a:spcPts val="500"/>
              </a:spcBef>
              <a:buSzTx/>
              <a:buFontTx/>
              <a:buNone/>
              <a:defRPr b="1" sz="2400"/>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4" cy="1162050"/>
          </a:xfrm>
          <a:prstGeom prst="rect">
            <a:avLst/>
          </a:prstGeom>
        </p:spPr>
        <p:txBody>
          <a:bodyPr anchor="b"/>
          <a:lstStyle>
            <a:lvl1pPr algn="l">
              <a:defRPr b="1" sz="2000"/>
            </a:lvl1pPr>
          </a:lstStyle>
          <a:p>
            <a:pPr/>
            <a:r>
              <a:t>Title Text</a:t>
            </a:r>
          </a:p>
        </p:txBody>
      </p:sp>
      <p:sp>
        <p:nvSpPr>
          <p:cNvPr id="73" name="Body Level One…"/>
          <p:cNvSpPr txBox="1"/>
          <p:nvPr>
            <p:ph type="body"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half" idx="21"/>
          </p:nvPr>
        </p:nvSpPr>
        <p:spPr>
          <a:xfrm>
            <a:off x="457199" y="1435100"/>
            <a:ext cx="3008315" cy="4691063"/>
          </a:xfrm>
          <a:prstGeom prst="rect">
            <a:avLst/>
          </a:prstGeom>
        </p:spPr>
        <p:txBody>
          <a:bodyPr/>
          <a:lstStyle/>
          <a:p>
            <a:pPr marL="0" indent="0">
              <a:spcBef>
                <a:spcPts val="300"/>
              </a:spcBef>
              <a:buSzTx/>
              <a:buFontTx/>
              <a:buNone/>
              <a:defRPr sz="1400"/>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1" cy="566738"/>
          </a:xfrm>
          <a:prstGeom prst="rect">
            <a:avLst/>
          </a:prstGeom>
        </p:spPr>
        <p:txBody>
          <a:bodyPr anchor="b"/>
          <a:lstStyle>
            <a:lvl1pPr algn="l">
              <a:defRPr b="1" sz="2000"/>
            </a:lvl1pPr>
          </a:lstStyle>
          <a:p>
            <a:pPr/>
            <a:r>
              <a:t>Title Text</a:t>
            </a:r>
          </a:p>
        </p:txBody>
      </p:sp>
      <p:sp>
        <p:nvSpPr>
          <p:cNvPr id="83" name="Picture Placeholder 2"/>
          <p:cNvSpPr/>
          <p:nvPr>
            <p:ph type="pic" sz="half" idx="21"/>
          </p:nvPr>
        </p:nvSpPr>
        <p:spPr>
          <a:xfrm>
            <a:off x="1792288" y="612775"/>
            <a:ext cx="5486401" cy="4114800"/>
          </a:xfrm>
          <a:prstGeom prst="rect">
            <a:avLst/>
          </a:prstGeom>
        </p:spPr>
        <p:txBody>
          <a:bodyPr lIns="91439" rIns="91439">
            <a:noAutofit/>
          </a:bodyPr>
          <a:lstStyle/>
          <a:p>
            <a:pPr/>
          </a:p>
        </p:txBody>
      </p:sp>
      <p:sp>
        <p:nvSpPr>
          <p:cNvPr id="84" name="Body Level One…"/>
          <p:cNvSpPr txBox="1"/>
          <p:nvPr>
            <p:ph type="body" sz="quarter" idx="1"/>
          </p:nvPr>
        </p:nvSpPr>
        <p:spPr>
          <a:xfrm>
            <a:off x="1792288" y="5367337"/>
            <a:ext cx="5486401" cy="804863"/>
          </a:xfrm>
          <a:prstGeom prst="rect">
            <a:avLst/>
          </a:prstGeom>
        </p:spPr>
        <p:txBody>
          <a:bodyPr/>
          <a:lstStyle>
            <a:lvl1pPr marL="0" indent="0">
              <a:spcBef>
                <a:spcPts val="300"/>
              </a:spcBef>
              <a:buSzTx/>
              <a:buFontTx/>
              <a:buNone/>
              <a:defRPr sz="1400"/>
            </a:lvl1pPr>
            <a:lvl2pPr marL="0" indent="457200">
              <a:spcBef>
                <a:spcPts val="300"/>
              </a:spcBef>
              <a:buSzTx/>
              <a:buFontTx/>
              <a:buNone/>
              <a:defRPr sz="1400"/>
            </a:lvl2pPr>
            <a:lvl3pPr marL="0" indent="914400">
              <a:spcBef>
                <a:spcPts val="300"/>
              </a:spcBef>
              <a:buSzTx/>
              <a:buFontTx/>
              <a:buNone/>
              <a:defRPr sz="1400"/>
            </a:lvl3pPr>
            <a:lvl4pPr marL="0" indent="1371600">
              <a:spcBef>
                <a:spcPts val="300"/>
              </a:spcBef>
              <a:buSzTx/>
              <a:buFontTx/>
              <a:buNone/>
              <a:defRPr sz="1400"/>
            </a:lvl4pPr>
            <a:lvl5pPr marL="0" indent="182880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274638"/>
            <a:ext cx="8229600" cy="1143001"/>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p>
            <a:pPr/>
            <a:r>
              <a:t>Title Text</a:t>
            </a:r>
          </a:p>
        </p:txBody>
      </p:sp>
      <p:sp>
        <p:nvSpPr>
          <p:cNvPr id="3" name="Body Level One…"/>
          <p:cNvSpPr txBox="1"/>
          <p:nvPr>
            <p:ph type="body" idx="1"/>
          </p:nvPr>
        </p:nvSpPr>
        <p:spPr>
          <a:xfrm>
            <a:off x="457200" y="1600200"/>
            <a:ext cx="8229600" cy="4525963"/>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n-lt"/>
          <a:ea typeface="+mn-ea"/>
          <a:cs typeface="+mn-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malina15/WASAText-T3" TargetMode="External"/></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 name="Title 1"/>
          <p:cNvSpPr txBox="1"/>
          <p:nvPr>
            <p:ph type="ctrTitle"/>
          </p:nvPr>
        </p:nvSpPr>
        <p:spPr>
          <a:prstGeom prst="rect">
            <a:avLst/>
          </a:prstGeom>
        </p:spPr>
        <p:txBody>
          <a:bodyPr/>
          <a:lstStyle/>
          <a:p>
            <a:pPr>
              <a:defRPr b="1" sz="1800">
                <a:latin typeface="Times New Roman"/>
                <a:ea typeface="Times New Roman"/>
                <a:cs typeface="Times New Roman"/>
                <a:sym typeface="Times New Roman"/>
              </a:defRPr>
            </a:pPr>
            <a:r>
              <a:t>MongoDB Schema Design Strategies and Scaling</a:t>
            </a:r>
          </a:p>
          <a:p>
            <a:pPr>
              <a:defRPr b="1" sz="1800">
                <a:latin typeface="Times New Roman"/>
                <a:ea typeface="Times New Roman"/>
                <a:cs typeface="Times New Roman"/>
                <a:sym typeface="Times New Roman"/>
              </a:defRPr>
            </a:pPr>
            <a:r>
              <a:t>WASAText Case Study</a:t>
            </a:r>
          </a:p>
        </p:txBody>
      </p:sp>
      <p:sp>
        <p:nvSpPr>
          <p:cNvPr id="95" name="Subtitle 2"/>
          <p:cNvSpPr txBox="1"/>
          <p:nvPr>
            <p:ph type="subTitle" sz="quarter" idx="1"/>
          </p:nvPr>
        </p:nvSpPr>
        <p:spPr>
          <a:prstGeom prst="rect">
            <a:avLst/>
          </a:prstGeom>
        </p:spPr>
        <p:txBody>
          <a:bodyPr/>
          <a:lstStyle/>
          <a:p>
            <a:pPr algn="l">
              <a:spcBef>
                <a:spcPts val="200"/>
              </a:spcBef>
              <a:defRPr sz="1200">
                <a:latin typeface="Times New Roman"/>
                <a:ea typeface="Times New Roman"/>
                <a:cs typeface="Times New Roman"/>
                <a:sym typeface="Times New Roman"/>
              </a:defRPr>
            </a:pPr>
            <a:r>
              <a:t>Database Systems Project</a:t>
            </a:r>
          </a:p>
          <a:p>
            <a:pPr algn="l">
              <a:spcBef>
                <a:spcPts val="200"/>
              </a:spcBef>
              <a:defRPr sz="1200">
                <a:latin typeface="Times New Roman"/>
                <a:ea typeface="Times New Roman"/>
                <a:cs typeface="Times New Roman"/>
                <a:sym typeface="Times New Roman"/>
              </a:defRPr>
            </a:pPr>
            <a:r>
              <a:t>Case study based on the WASAText messaging application</a:t>
            </a:r>
          </a:p>
          <a:p>
            <a:pPr algn="l">
              <a:spcBef>
                <a:spcPts val="200"/>
              </a:spcBef>
              <a:defRPr sz="1200">
                <a:latin typeface="Times New Roman"/>
                <a:ea typeface="Times New Roman"/>
                <a:cs typeface="Times New Roman"/>
                <a:sym typeface="Times New Roman"/>
              </a:defRPr>
            </a:pPr>
            <a:r>
              <a:t>Repository: </a:t>
            </a:r>
            <a:r>
              <a:rPr u="sng">
                <a:solidFill>
                  <a:srgbClr val="0000FF"/>
                </a:solidFill>
                <a:uFill>
                  <a:solidFill>
                    <a:srgbClr val="0000FF"/>
                  </a:solidFill>
                </a:uFill>
                <a:hlinkClick r:id="rId2" invalidUrl="" action="" tgtFrame="" tooltip="" history="1" highlightClick="0" endSnd="0"/>
              </a:rPr>
              <a:t>https://github.com/malina15/WASAText-T3</a:t>
            </a:r>
          </a:p>
          <a:p>
            <a:pPr algn="l">
              <a:spcBef>
                <a:spcPts val="200"/>
              </a:spcBef>
              <a:defRPr sz="1200">
                <a:latin typeface="Times New Roman"/>
                <a:ea typeface="Times New Roman"/>
                <a:cs typeface="Times New Roman"/>
                <a:sym typeface="Times New Roman"/>
              </a:defRPr>
            </a:pPr>
          </a:p>
          <a:p>
            <a:pPr algn="l">
              <a:spcBef>
                <a:spcPts val="200"/>
              </a:spcBef>
              <a:defRPr sz="1200">
                <a:latin typeface="Times New Roman"/>
                <a:ea typeface="Times New Roman"/>
                <a:cs typeface="Times New Roman"/>
                <a:sym typeface="Times New Roman"/>
              </a:defRPr>
            </a:pPr>
          </a:p>
          <a:p>
            <a:pPr algn="l">
              <a:spcBef>
                <a:spcPts val="200"/>
              </a:spcBef>
              <a:defRPr sz="1200">
                <a:latin typeface="Times New Roman"/>
                <a:ea typeface="Times New Roman"/>
                <a:cs typeface="Times New Roman"/>
                <a:sym typeface="Times New Roman"/>
              </a:defRPr>
            </a:pPr>
          </a:p>
          <a:p>
            <a:pPr algn="l">
              <a:spcBef>
                <a:spcPts val="200"/>
              </a:spcBef>
              <a:defRPr sz="1200">
                <a:latin typeface="Times New Roman"/>
                <a:ea typeface="Times New Roman"/>
                <a:cs typeface="Times New Roman"/>
                <a:sym typeface="Times New Roman"/>
              </a:defRPr>
            </a:pPr>
            <a:r>
              <a:t>By Malina Ispravnic, Group 311</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7" name="Title 1"/>
          <p:cNvSpPr txBox="1"/>
          <p:nvPr>
            <p:ph type="title"/>
          </p:nvPr>
        </p:nvSpPr>
        <p:spPr>
          <a:prstGeom prst="rect">
            <a:avLst/>
          </a:prstGeom>
        </p:spPr>
        <p:txBody>
          <a:bodyPr/>
          <a:lstStyle>
            <a:lvl1pPr>
              <a:defRPr b="1" sz="1800">
                <a:latin typeface="Times New Roman"/>
                <a:ea typeface="Times New Roman"/>
                <a:cs typeface="Times New Roman"/>
                <a:sym typeface="Times New Roman"/>
              </a:defRPr>
            </a:lvl1pPr>
          </a:lstStyle>
          <a:p>
            <a:pPr/>
            <a:r>
              <a:t>Motivation</a:t>
            </a:r>
          </a:p>
        </p:txBody>
      </p:sp>
      <p:sp>
        <p:nvSpPr>
          <p:cNvPr id="98" name="Content Placeholder 2"/>
          <p:cNvSpPr txBox="1"/>
          <p:nvPr>
            <p:ph type="body" sz="quarter" idx="1"/>
          </p:nvPr>
        </p:nvSpPr>
        <p:spPr>
          <a:xfrm>
            <a:off x="457200" y="1600200"/>
            <a:ext cx="8229600" cy="880796"/>
          </a:xfrm>
          <a:prstGeom prst="rect">
            <a:avLst/>
          </a:prstGeom>
        </p:spPr>
        <p:txBody>
          <a:bodyPr/>
          <a:lstStyle>
            <a:lvl1pPr>
              <a:spcBef>
                <a:spcPts val="200"/>
              </a:spcBef>
              <a:defRPr sz="1200">
                <a:latin typeface="Times New Roman"/>
                <a:ea typeface="Times New Roman"/>
                <a:cs typeface="Times New Roman"/>
                <a:sym typeface="Times New Roman"/>
              </a:defRPr>
            </a:lvl1pPr>
          </a:lstStyle>
          <a:p>
            <a:pPr/>
            <a:r>
              <a:t>Modern messaging applications generate large volumes of semi-structured data and require high scalability and low-latency access. Traditional relational databases often struggle with these requirements. MongoDB, as a document-oriented NoSQL database, provides flexible schema design and horizontal scalability, making it suitable for analyzing messaging workloads.</a:t>
            </a:r>
          </a:p>
        </p:txBody>
      </p:sp>
      <p:sp>
        <p:nvSpPr>
          <p:cNvPr id="99" name="Title 1"/>
          <p:cNvSpPr txBox="1"/>
          <p:nvPr/>
        </p:nvSpPr>
        <p:spPr>
          <a:xfrm>
            <a:off x="457200" y="2580065"/>
            <a:ext cx="8229601" cy="1143001"/>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lvl1pPr algn="ctr">
              <a:defRPr b="1">
                <a:latin typeface="Times New Roman"/>
                <a:ea typeface="Times New Roman"/>
                <a:cs typeface="Times New Roman"/>
                <a:sym typeface="Times New Roman"/>
              </a:defRPr>
            </a:lvl1pPr>
          </a:lstStyle>
          <a:p>
            <a:pPr/>
            <a:r>
              <a:t>System Overview</a:t>
            </a:r>
          </a:p>
        </p:txBody>
      </p:sp>
      <p:sp>
        <p:nvSpPr>
          <p:cNvPr id="100" name="Content Placeholder 2"/>
          <p:cNvSpPr txBox="1"/>
          <p:nvPr/>
        </p:nvSpPr>
        <p:spPr>
          <a:xfrm>
            <a:off x="457200" y="3681129"/>
            <a:ext cx="8229601" cy="930816"/>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lvl1pPr marL="342900" indent="-342900">
              <a:spcBef>
                <a:spcPts val="200"/>
              </a:spcBef>
              <a:buSzPct val="100000"/>
              <a:buFont typeface="Arial"/>
              <a:buChar char="•"/>
              <a:defRPr sz="1200">
                <a:latin typeface="Times New Roman"/>
                <a:ea typeface="Times New Roman"/>
                <a:cs typeface="Times New Roman"/>
                <a:sym typeface="Times New Roman"/>
              </a:defRPr>
            </a:lvl1pPr>
          </a:lstStyle>
          <a:p>
            <a:pPr/>
            <a:r>
              <a:t>WASAText is a web-based messaging application developed as an academic project. The frontend is implemented using Vue and served through Nginx, while the backend is implemented in Go using the Gin framework. MongoDB is not used in production, but introduced exclusively for schema design evaluation and performance analysis.</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2" name="Title 1"/>
          <p:cNvSpPr txBox="1"/>
          <p:nvPr>
            <p:ph type="title"/>
          </p:nvPr>
        </p:nvSpPr>
        <p:spPr>
          <a:prstGeom prst="rect">
            <a:avLst/>
          </a:prstGeom>
        </p:spPr>
        <p:txBody>
          <a:bodyPr/>
          <a:lstStyle>
            <a:lvl1pPr>
              <a:defRPr b="1" sz="1800">
                <a:latin typeface="Times New Roman"/>
                <a:ea typeface="Times New Roman"/>
                <a:cs typeface="Times New Roman"/>
                <a:sym typeface="Times New Roman"/>
              </a:defRPr>
            </a:lvl1pPr>
          </a:lstStyle>
          <a:p>
            <a:pPr/>
            <a:r>
              <a:t>System Architecture</a:t>
            </a:r>
          </a:p>
        </p:txBody>
      </p:sp>
      <p:sp>
        <p:nvSpPr>
          <p:cNvPr id="103" name="Content Placeholder 2"/>
          <p:cNvSpPr txBox="1"/>
          <p:nvPr>
            <p:ph type="body" idx="1"/>
          </p:nvPr>
        </p:nvSpPr>
        <p:spPr>
          <a:xfrm>
            <a:off x="457200" y="1600200"/>
            <a:ext cx="8229600" cy="4525963"/>
          </a:xfrm>
          <a:prstGeom prst="rect">
            <a:avLst/>
          </a:prstGeom>
        </p:spPr>
        <p:txBody>
          <a:bodyPr/>
          <a:lstStyle>
            <a:lvl1pPr>
              <a:spcBef>
                <a:spcPts val="200"/>
              </a:spcBef>
              <a:defRPr sz="1200">
                <a:latin typeface="Times New Roman"/>
                <a:ea typeface="Times New Roman"/>
                <a:cs typeface="Times New Roman"/>
                <a:sym typeface="Times New Roman"/>
              </a:defRPr>
            </a:lvl1pPr>
          </a:lstStyle>
          <a:p>
            <a:pPr/>
            <a:r>
              <a:t>The diagram illustrates the runtime architecture of the WASAText system. User interactions are handled in the browser, requests are forwarded to the Vue-based frontend, processed by the Go backend, and persisted or analyzed within MongoDB for the T3 study.</a:t>
            </a:r>
          </a:p>
        </p:txBody>
      </p:sp>
      <p:pic>
        <p:nvPicPr>
          <p:cNvPr id="104" name="Picture 3" descr="Picture 3"/>
          <p:cNvPicPr>
            <a:picLocks noChangeAspect="1"/>
          </p:cNvPicPr>
          <p:nvPr/>
        </p:nvPicPr>
        <p:blipFill>
          <a:blip r:embed="rId2">
            <a:extLst/>
          </a:blip>
          <a:stretch>
            <a:fillRect/>
          </a:stretch>
        </p:blipFill>
        <p:spPr>
          <a:xfrm>
            <a:off x="3975089" y="2237086"/>
            <a:ext cx="1193822" cy="4304485"/>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Title 1"/>
          <p:cNvSpPr txBox="1"/>
          <p:nvPr>
            <p:ph type="title"/>
          </p:nvPr>
        </p:nvSpPr>
        <p:spPr>
          <a:prstGeom prst="rect">
            <a:avLst/>
          </a:prstGeom>
        </p:spPr>
        <p:txBody>
          <a:bodyPr/>
          <a:lstStyle>
            <a:lvl1pPr>
              <a:defRPr b="1" sz="1800">
                <a:latin typeface="Times New Roman"/>
                <a:ea typeface="Times New Roman"/>
                <a:cs typeface="Times New Roman"/>
                <a:sym typeface="Times New Roman"/>
              </a:defRPr>
            </a:lvl1pPr>
          </a:lstStyle>
          <a:p>
            <a:pPr/>
            <a:r>
              <a:t>Data Model Design</a:t>
            </a:r>
          </a:p>
        </p:txBody>
      </p:sp>
      <p:sp>
        <p:nvSpPr>
          <p:cNvPr id="107" name="Content Placeholder 2"/>
          <p:cNvSpPr txBox="1"/>
          <p:nvPr>
            <p:ph type="body" sz="quarter" idx="1"/>
          </p:nvPr>
        </p:nvSpPr>
        <p:spPr>
          <a:xfrm>
            <a:off x="457200" y="1600200"/>
            <a:ext cx="8229600" cy="722136"/>
          </a:xfrm>
          <a:prstGeom prst="rect">
            <a:avLst/>
          </a:prstGeom>
        </p:spPr>
        <p:txBody>
          <a:bodyPr/>
          <a:lstStyle>
            <a:lvl1pPr>
              <a:spcBef>
                <a:spcPts val="200"/>
              </a:spcBef>
              <a:defRPr sz="1200">
                <a:latin typeface="Times New Roman"/>
                <a:ea typeface="Times New Roman"/>
                <a:cs typeface="Times New Roman"/>
                <a:sym typeface="Times New Roman"/>
              </a:defRPr>
            </a:lvl1pPr>
          </a:lstStyle>
          <a:p>
            <a:pPr/>
            <a:r>
              <a:t>Two alternative MongoDB schema design strategies are analyzed: embedded and referenced document models. The choice between these approaches affects query performance, document growth, and system scalability, especially in messaging applications with long-lived conversations.</a:t>
            </a:r>
          </a:p>
        </p:txBody>
      </p:sp>
      <p:pic>
        <p:nvPicPr>
          <p:cNvPr id="108" name="Picture 3" descr="Picture 3"/>
          <p:cNvPicPr>
            <a:picLocks noChangeAspect="1"/>
          </p:cNvPicPr>
          <p:nvPr/>
        </p:nvPicPr>
        <p:blipFill>
          <a:blip r:embed="rId2">
            <a:extLst/>
          </a:blip>
          <a:stretch>
            <a:fillRect/>
          </a:stretch>
        </p:blipFill>
        <p:spPr>
          <a:xfrm>
            <a:off x="2286000" y="3541278"/>
            <a:ext cx="4572001" cy="2070223"/>
          </a:xfrm>
          <a:prstGeom prst="rect">
            <a:avLst/>
          </a:prstGeom>
          <a:ln w="12700">
            <a:miter lim="400000"/>
          </a:ln>
        </p:spPr>
      </p:pic>
      <p:sp>
        <p:nvSpPr>
          <p:cNvPr id="109" name="Content Placeholder 2"/>
          <p:cNvSpPr txBox="1"/>
          <p:nvPr/>
        </p:nvSpPr>
        <p:spPr>
          <a:xfrm>
            <a:off x="457199" y="2603405"/>
            <a:ext cx="8229601" cy="656804"/>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lvl1pPr marL="342900" indent="-342900">
              <a:spcBef>
                <a:spcPts val="200"/>
              </a:spcBef>
              <a:buSzPct val="100000"/>
              <a:buFont typeface="Arial"/>
              <a:buChar char="•"/>
              <a:defRPr sz="1200">
                <a:latin typeface="Times New Roman"/>
                <a:ea typeface="Times New Roman"/>
                <a:cs typeface="Times New Roman"/>
                <a:sym typeface="Times New Roman"/>
              </a:defRPr>
            </a:lvl1pPr>
          </a:lstStyle>
          <a:p>
            <a:pPr/>
            <a:r>
              <a:t>The embedded model stores messages directly inside conversation documents, favoring read-heavy workloads. The referenced model separates conversations and messages into different collections, improving scalability for large datasets.</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1" name="Title 1"/>
          <p:cNvSpPr txBox="1"/>
          <p:nvPr>
            <p:ph type="title"/>
          </p:nvPr>
        </p:nvSpPr>
        <p:spPr>
          <a:prstGeom prst="rect">
            <a:avLst/>
          </a:prstGeom>
        </p:spPr>
        <p:txBody>
          <a:bodyPr/>
          <a:lstStyle>
            <a:lvl1pPr>
              <a:defRPr b="1" sz="1800">
                <a:latin typeface="Times New Roman"/>
                <a:ea typeface="Times New Roman"/>
                <a:cs typeface="Times New Roman"/>
                <a:sym typeface="Times New Roman"/>
              </a:defRPr>
            </a:lvl1pPr>
          </a:lstStyle>
          <a:p>
            <a:pPr/>
            <a:r>
              <a:t>Benchmark Setup</a:t>
            </a:r>
          </a:p>
        </p:txBody>
      </p:sp>
      <p:sp>
        <p:nvSpPr>
          <p:cNvPr id="112" name="Content Placeholder 2"/>
          <p:cNvSpPr txBox="1"/>
          <p:nvPr>
            <p:ph type="body" sz="quarter" idx="1"/>
          </p:nvPr>
        </p:nvSpPr>
        <p:spPr>
          <a:xfrm>
            <a:off x="457200" y="1600200"/>
            <a:ext cx="8229600" cy="762880"/>
          </a:xfrm>
          <a:prstGeom prst="rect">
            <a:avLst/>
          </a:prstGeom>
        </p:spPr>
        <p:txBody>
          <a:bodyPr/>
          <a:lstStyle>
            <a:lvl1pPr>
              <a:spcBef>
                <a:spcPts val="200"/>
              </a:spcBef>
              <a:defRPr sz="1200">
                <a:latin typeface="Times New Roman"/>
                <a:ea typeface="Times New Roman"/>
                <a:cs typeface="Times New Roman"/>
                <a:sym typeface="Times New Roman"/>
              </a:defRPr>
            </a:lvl1pPr>
          </a:lstStyle>
          <a:p>
            <a:pPr/>
            <a:r>
              <a:t>A synthetic dataset was generated to simulate realistic messaging workloads. Queries retrieving the most recent conversations were executed using MongoDB explain() plans. Performance metrics were collected before and after creating indexes on relevant fields.</a:t>
            </a:r>
          </a:p>
        </p:txBody>
      </p:sp>
      <p:sp>
        <p:nvSpPr>
          <p:cNvPr id="113" name="Title 1"/>
          <p:cNvSpPr txBox="1"/>
          <p:nvPr/>
        </p:nvSpPr>
        <p:spPr>
          <a:xfrm>
            <a:off x="457200" y="2290807"/>
            <a:ext cx="8229601" cy="1143001"/>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lvl1pPr algn="ctr">
              <a:defRPr b="1">
                <a:latin typeface="Times New Roman"/>
                <a:ea typeface="Times New Roman"/>
                <a:cs typeface="Times New Roman"/>
                <a:sym typeface="Times New Roman"/>
              </a:defRPr>
            </a:lvl1pPr>
          </a:lstStyle>
          <a:p>
            <a:pPr/>
            <a:r>
              <a:t>Benchmark Results</a:t>
            </a:r>
          </a:p>
        </p:txBody>
      </p:sp>
      <p:sp>
        <p:nvSpPr>
          <p:cNvPr id="114" name="Content Placeholder 2"/>
          <p:cNvSpPr txBox="1"/>
          <p:nvPr/>
        </p:nvSpPr>
        <p:spPr>
          <a:xfrm>
            <a:off x="457200" y="3525821"/>
            <a:ext cx="8229601" cy="901506"/>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lvl1pPr marL="342900" indent="-342900">
              <a:spcBef>
                <a:spcPts val="200"/>
              </a:spcBef>
              <a:buSzPct val="100000"/>
              <a:buFont typeface="Arial"/>
              <a:buChar char="•"/>
              <a:defRPr sz="1200">
                <a:latin typeface="Times New Roman"/>
                <a:ea typeface="Times New Roman"/>
                <a:cs typeface="Times New Roman"/>
                <a:sym typeface="Times New Roman"/>
              </a:defRPr>
            </a:lvl1pPr>
          </a:lstStyle>
          <a:p>
            <a:pPr/>
            <a:r>
              <a:t>Before indexing, MongoDB performed full collection scans and in-memory sorting. After creating an index on the last_message_at field, query execution required fewer document scans and avoided blocking sorts, significantly improving latency.</a:t>
            </a:r>
          </a:p>
        </p:txBody>
      </p:sp>
      <p:sp>
        <p:nvSpPr>
          <p:cNvPr id="115" name="Title 1"/>
          <p:cNvSpPr txBox="1"/>
          <p:nvPr/>
        </p:nvSpPr>
        <p:spPr>
          <a:xfrm>
            <a:off x="457199" y="4306977"/>
            <a:ext cx="8229601" cy="1143001"/>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lvl1pPr algn="ctr">
              <a:defRPr b="1">
                <a:latin typeface="Times New Roman"/>
                <a:ea typeface="Times New Roman"/>
                <a:cs typeface="Times New Roman"/>
                <a:sym typeface="Times New Roman"/>
              </a:defRPr>
            </a:lvl1pPr>
          </a:lstStyle>
          <a:p>
            <a:pPr/>
            <a:r>
              <a:t>Interpretation</a:t>
            </a:r>
          </a:p>
        </p:txBody>
      </p:sp>
      <p:sp>
        <p:nvSpPr>
          <p:cNvPr id="116" name="Content Placeholder 2"/>
          <p:cNvSpPr txBox="1"/>
          <p:nvPr/>
        </p:nvSpPr>
        <p:spPr>
          <a:xfrm>
            <a:off x="457199" y="5632540"/>
            <a:ext cx="8229601" cy="606412"/>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lvl1pPr marL="342900" indent="-342900">
              <a:spcBef>
                <a:spcPts val="200"/>
              </a:spcBef>
              <a:buSzPct val="100000"/>
              <a:buFont typeface="Arial"/>
              <a:buChar char="•"/>
              <a:defRPr sz="1200">
                <a:latin typeface="Times New Roman"/>
                <a:ea typeface="Times New Roman"/>
                <a:cs typeface="Times New Roman"/>
                <a:sym typeface="Times New Roman"/>
              </a:defRPr>
            </a:lvl1pPr>
          </a:lstStyle>
          <a:p>
            <a:pPr/>
            <a:r>
              <a:t>The results show that embedded schemas are efficient for retrieving recent conversation data, while referenced schemas offer better long-term scalability. Indexing plays a crucial role in optimizing query execution for both approaches.</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8" name="Title 1"/>
          <p:cNvSpPr txBox="1"/>
          <p:nvPr>
            <p:ph type="title"/>
          </p:nvPr>
        </p:nvSpPr>
        <p:spPr>
          <a:prstGeom prst="rect">
            <a:avLst/>
          </a:prstGeom>
        </p:spPr>
        <p:txBody>
          <a:bodyPr/>
          <a:lstStyle>
            <a:lvl1pPr>
              <a:defRPr b="1" sz="1800">
                <a:latin typeface="Times New Roman"/>
                <a:ea typeface="Times New Roman"/>
                <a:cs typeface="Times New Roman"/>
                <a:sym typeface="Times New Roman"/>
              </a:defRPr>
            </a:lvl1pPr>
          </a:lstStyle>
          <a:p>
            <a:pPr/>
            <a:r>
              <a:t>Conclusion</a:t>
            </a:r>
          </a:p>
        </p:txBody>
      </p:sp>
      <p:sp>
        <p:nvSpPr>
          <p:cNvPr id="119" name="Content Placeholder 2"/>
          <p:cNvSpPr txBox="1"/>
          <p:nvPr>
            <p:ph type="body" idx="1"/>
          </p:nvPr>
        </p:nvSpPr>
        <p:spPr>
          <a:xfrm>
            <a:off x="457200" y="1600200"/>
            <a:ext cx="8229600" cy="4525963"/>
          </a:xfrm>
          <a:prstGeom prst="rect">
            <a:avLst/>
          </a:prstGeom>
        </p:spPr>
        <p:txBody>
          <a:bodyPr/>
          <a:lstStyle>
            <a:lvl1pPr>
              <a:spcBef>
                <a:spcPts val="200"/>
              </a:spcBef>
              <a:defRPr sz="1200">
                <a:latin typeface="Times New Roman"/>
                <a:ea typeface="Times New Roman"/>
                <a:cs typeface="Times New Roman"/>
                <a:sym typeface="Times New Roman"/>
              </a:defRPr>
            </a:lvl1pPr>
          </a:lstStyle>
          <a:p>
            <a:pPr/>
            <a:r>
              <a:t>MongoDB schema design must be aligned with application access patterns. Messaging systems benefit from embedded documents for fast reads, while referenced models and proper indexing are essential for scaling to large datasets.</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